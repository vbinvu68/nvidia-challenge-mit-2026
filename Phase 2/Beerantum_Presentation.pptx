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1E293B"/>
                </a:solidFill>
                <a:latin typeface="Arial"/>
              </a:defRPr>
            </a:pPr>
            <a:r>
              <a:rPr sz="1400" b="0" i="0" u="none" strike="noStrike">
                <a:solidFill>
                  <a:srgbClr val="1E293B"/>
                </a:solidFill>
                <a:latin typeface="Arial"/>
              </a:rPr>
              <a:t>GPU Speedup vs CPU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Speedup</c:v>
                </c:pt>
              </c:strCache>
            </c:strRef>
          </c:tx>
          <c:spPr>
            <a:solidFill>
              <a:srgbClr val="028090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E293B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N=10</c:v>
                  </c:pt>
                  <c:pt idx="1">
                    <c:v>N=15</c:v>
                  </c:pt>
                  <c:pt idx="2">
                    <c:v>N=20</c:v>
                  </c:pt>
                  <c:pt idx="3">
                    <c:v>N=25</c:v>
                  </c:pt>
                  <c:pt idx="4">
                    <c:v>N=28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5</c:v>
                </c:pt>
                <c:pt idx="1">
                  <c:v>12</c:v>
                </c:pt>
                <c:pt idx="2">
                  <c:v>25</c:v>
                </c:pt>
                <c:pt idx="3">
                  <c:v>38</c:v>
                </c:pt>
                <c:pt idx="4">
                  <c:v>50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1E293B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1E293B"/>
                </a:solidFill>
                <a:latin typeface="Arial"/>
              </a:defRPr>
            </a:pPr>
            <a:r>
              <a:rPr sz="1400" b="0" i="0" u="none" strike="noStrike">
                <a:solidFill>
                  <a:srgbClr val="1E293B"/>
                </a:solidFill>
                <a:latin typeface="Arial"/>
              </a:rPr>
              <a:t>Statevector Memory Scaling</a:t>
            </a:r>
          </a:p>
        </c:rich>
      </c:tx>
      <c:layout/>
      <c:overlay val="0"/>
    </c:title>
    <c:autoTitleDeleted val="0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Memory (GB)</c:v>
                </c:pt>
              </c:strCache>
            </c:strRef>
          </c:tx>
          <c:spPr>
            <a:solidFill>
              <a:srgbClr val="00A896"/>
            </a:solidFill>
            <a:ln w="38100" cap="flat">
              <a:solidFill>
                <a:srgbClr val="00A896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00A896"/>
              </a:solidFill>
              <a:ln w="9525" cap="flat">
                <a:solidFill>
                  <a:srgbClr val="00A896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Sheet1!$A$2:$A$6</c:f>
              <c:multiLvlStrCache>
                <c:ptCount val="5"/>
                <c:lvl>
                  <c:pt idx="0">
                    <c:v>N=20</c:v>
                  </c:pt>
                  <c:pt idx="1">
                    <c:v>N=25</c:v>
                  </c:pt>
                  <c:pt idx="2">
                    <c:v>N=28</c:v>
                  </c:pt>
                  <c:pt idx="3">
                    <c:v>N=29</c:v>
                  </c:pt>
                  <c:pt idx="4">
                    <c:v>N=30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0.016</c:v>
                </c:pt>
                <c:pt idx="1">
                  <c:v>0.5</c:v>
                </c:pt>
                <c:pt idx="2">
                  <c:v>4.3</c:v>
                </c:pt>
                <c:pt idx="3">
                  <c:v>8.6</c:v>
                </c:pt>
                <c:pt idx="4">
                  <c:v>17.2</c:v>
                </c:pt>
              </c:numCache>
            </c:numRef>
          </c:val>
          <c:smooth val="1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chart" Target="/ppt/charts/chart2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9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1371600"/>
            <a:ext cx="77724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Quantum-Enhanced LABS Optimization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731520" y="2468880"/>
            <a:ext cx="7772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GPU-Accelerated Memetic Tabu Search with CUDA-Q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31520" y="347472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A8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Team Beerantum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731520" y="411480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NVIDIA CUDA-Q Academic Challenge 2026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5943600" y="3291840"/>
            <a:ext cx="27432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Anna Almazán Favela</a:t>
            </a:r>
            <a:endParaRPr lang="en-US" sz="1400" dirty="0"/>
          </a:p>
          <a:p>
            <a:pPr algn="r" indent="0" marL="0">
              <a:buNone/>
            </a:pPr>
            <a:r>
              <a:rPr lang="en-US" sz="14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Van Binh Vu</a:t>
            </a:r>
            <a:endParaRPr lang="en-US" sz="1400" dirty="0"/>
          </a:p>
          <a:p>
            <a:pPr algn="r" indent="0" marL="0">
              <a:buNone/>
            </a:pPr>
            <a:r>
              <a:rPr lang="en-US" sz="14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Ziwoong Jang</a:t>
            </a:r>
            <a:endParaRPr lang="en-US" sz="1400" dirty="0"/>
          </a:p>
          <a:p>
            <a:pPr algn="r" indent="0" marL="0">
              <a:buNone/>
            </a:pPr>
            <a:r>
              <a:rPr lang="en-US" sz="14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Rudraksh Sharma</a:t>
            </a:r>
            <a:endParaRPr lang="en-US" sz="1400" dirty="0"/>
          </a:p>
          <a:p>
            <a:pPr algn="r" indent="0" marL="0">
              <a:buNone/>
            </a:pPr>
            <a:r>
              <a:rPr lang="en-US" sz="14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Sadiya Ansari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E293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The Plan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3931920" cy="3474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1097280"/>
            <a:ext cx="73152" cy="347472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28016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Original PRD Strategy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640080" y="1828800"/>
            <a:ext cx="365760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Counterdiabatic Quantum Optimization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Eq. B3 Trotterized Circuit (Hegde 2024)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Target: N = 29-30 qubits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Hybrid: Quantum sampling + Classical MTS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GPU acceleration with CUDA-Q + CuPy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754880" y="1097280"/>
            <a:ext cx="3931920" cy="3474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754880" y="1097280"/>
            <a:ext cx="73152" cy="3474720"/>
          </a:xfrm>
          <a:prstGeom prst="rect">
            <a:avLst/>
          </a:prstGeom>
          <a:solidFill>
            <a:srgbClr val="00A896"/>
          </a:solidFill>
          <a:ln/>
        </p:spPr>
      </p:sp>
      <p:sp>
        <p:nvSpPr>
          <p:cNvPr id="9" name="Text 7"/>
          <p:cNvSpPr/>
          <p:nvPr/>
        </p:nvSpPr>
        <p:spPr>
          <a:xfrm>
            <a:off x="4937760" y="128016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Algorithm Components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4937760" y="1828800"/>
            <a:ext cx="365760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2-body rotations: R_YZ, R_ZY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4-body rotations: R_YZZZ, R_ZYZZ, R_ZZYZ, R_ZZZY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Parallel async sampling (cudaq.sample_async)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Memetic Tabu Search refinement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Batch GPU energy evaluation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E293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The Pivot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8229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Obstacles &amp; Adaptations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3931920" cy="1645920"/>
          </a:xfrm>
          <a:prstGeom prst="rect">
            <a:avLst/>
          </a:prstGeom>
          <a:solidFill>
            <a:srgbClr val="FEF2F2"/>
          </a:solidFill>
          <a:ln w="12700">
            <a:solidFill>
              <a:srgbClr val="FECAC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46304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Challenge: CUDA Driver Mismatch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40080" y="1828800"/>
            <a:ext cx="3657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qBraid returned 'cudaErrorInsufficientDriver' - blocked GPU development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754880" y="1371600"/>
            <a:ext cx="3931920" cy="1645920"/>
          </a:xfrm>
          <a:prstGeom prst="rect">
            <a:avLst/>
          </a:prstGeom>
          <a:solidFill>
            <a:srgbClr val="F0FDF4"/>
          </a:solidFill>
          <a:ln w="12700">
            <a:solidFill>
              <a:srgbClr val="BBF7D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937760" y="146304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A3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Solution: Graceful Fallback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937760" y="1828800"/>
            <a:ext cx="3657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GPUConfig class auto-detects hardware, falls back to CPU (qpp-cpu) silently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57200" y="3200400"/>
            <a:ext cx="3931920" cy="1645920"/>
          </a:xfrm>
          <a:prstGeom prst="rect">
            <a:avLst/>
          </a:prstGeom>
          <a:solidFill>
            <a:srgbClr val="FEF2F2"/>
          </a:solidFill>
          <a:ln w="12700">
            <a:solidFill>
              <a:srgbClr val="FECAC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0080" y="329184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Challenge: Memory Limits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640080" y="3657600"/>
            <a:ext cx="3657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Original target N=50 requires 18 PB (impossible!)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754880" y="3200400"/>
            <a:ext cx="3931920" cy="1645920"/>
          </a:xfrm>
          <a:prstGeom prst="rect">
            <a:avLst/>
          </a:prstGeom>
          <a:solidFill>
            <a:srgbClr val="F0FDF4"/>
          </a:solidFill>
          <a:ln w="12700">
            <a:solidFill>
              <a:srgbClr val="BBF7D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937760" y="329184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A3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Solution: Realistic Targets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937760" y="3657600"/>
            <a:ext cx="3657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N=29 (8.6GB) on L4/A10, N=30 (17.2GB) on A100. Added memory estimation.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E293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Results: Validation Suite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2743200" cy="182880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280160"/>
            <a:ext cx="2743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100%</a:t>
            </a:r>
            <a:endParaRPr lang="en-US" sz="5600" dirty="0"/>
          </a:p>
        </p:txBody>
      </p:sp>
      <p:sp>
        <p:nvSpPr>
          <p:cNvPr id="5" name="Text 3"/>
          <p:cNvSpPr/>
          <p:nvPr/>
        </p:nvSpPr>
        <p:spPr>
          <a:xfrm>
            <a:off x="457200" y="219456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 Pass Rate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3383280" y="1097280"/>
            <a:ext cx="2743200" cy="1828800"/>
          </a:xfrm>
          <a:prstGeom prst="rect">
            <a:avLst/>
          </a:prstGeom>
          <a:solidFill>
            <a:srgbClr val="00A896"/>
          </a:solidFill>
          <a:ln/>
        </p:spPr>
      </p:sp>
      <p:sp>
        <p:nvSpPr>
          <p:cNvPr id="7" name="Text 5"/>
          <p:cNvSpPr/>
          <p:nvPr/>
        </p:nvSpPr>
        <p:spPr>
          <a:xfrm>
            <a:off x="3383280" y="1280160"/>
            <a:ext cx="2743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900</a:t>
            </a:r>
            <a:endParaRPr lang="en-US" sz="5600" dirty="0"/>
          </a:p>
        </p:txBody>
      </p:sp>
      <p:sp>
        <p:nvSpPr>
          <p:cNvPr id="8" name="Text 6"/>
          <p:cNvSpPr/>
          <p:nvPr/>
        </p:nvSpPr>
        <p:spPr>
          <a:xfrm>
            <a:off x="3383280" y="219456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Symmetry Tests Passed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309360" y="1097280"/>
            <a:ext cx="2377440" cy="1828800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10" name="Text 8"/>
          <p:cNvSpPr/>
          <p:nvPr/>
        </p:nvSpPr>
        <p:spPr>
          <a:xfrm>
            <a:off x="6309360" y="1280160"/>
            <a:ext cx="23774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1E293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N=30</a:t>
            </a:r>
            <a:endParaRPr lang="en-US" sz="4800" dirty="0"/>
          </a:p>
        </p:txBody>
      </p:sp>
      <p:sp>
        <p:nvSpPr>
          <p:cNvPr id="11" name="Text 9"/>
          <p:cNvSpPr/>
          <p:nvPr/>
        </p:nvSpPr>
        <p:spPr>
          <a:xfrm>
            <a:off x="6309360" y="219456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 Problem Size</a:t>
            </a:r>
            <a:endParaRPr lang="en-US" sz="14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3200400"/>
          <a:ext cx="8229600" cy="1828800"/>
        </p:xfrm>
        <a:graphic>
          <a:graphicData uri="http://schemas.openxmlformats.org/drawingml/2006/table">
            <a:tbl>
              <a:tblPr/>
              <a:tblGrid>
                <a:gridCol w="4114800"/>
                <a:gridCol w="1371600"/>
                <a:gridCol w="2743200"/>
              </a:tblGrid>
              <a:tr h="2286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Category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Tests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Status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Hand Calculations (N=3,4,5)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 PASSED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Brute-Force vs Literature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 PASSED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Symmetry (Reversal/Inversion)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900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 PASSED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GPU/CPU Consistency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 PASSED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Interaction Indices (G2, G4)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15+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 PASSED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Quantum Sample Validity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 PASSED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MTS Improvement Guarantee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 PASSED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E293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Results: GPU Performance</a:t>
            </a:r>
            <a:endParaRPr lang="en-US" sz="36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457200" y="1097280"/>
          <a:ext cx="4114800" cy="32004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4" name="Chart 1" descr=""/>
          <p:cNvGraphicFramePr/>
          <p:nvPr/>
        </p:nvGraphicFramePr>
        <p:xfrm>
          <a:off x="4754880" y="1097280"/>
          <a:ext cx="3931920" cy="32004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5" name="Shape 1"/>
          <p:cNvSpPr/>
          <p:nvPr/>
        </p:nvSpPr>
        <p:spPr>
          <a:xfrm>
            <a:off x="457200" y="4480560"/>
            <a:ext cx="8229600" cy="54864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6" name="Text 2"/>
          <p:cNvSpPr/>
          <p:nvPr/>
        </p:nvSpPr>
        <p:spPr>
          <a:xfrm>
            <a:off x="457200" y="45262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Key: 10-50x speedup enables N=29-30 in practical timeframes</a:t>
            </a:r>
            <a:endParaRPr lang="en-US" sz="1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E293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AI-Powered Development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2651760" cy="2560320"/>
          </a:xfrm>
          <a:prstGeom prst="rect">
            <a:avLst/>
          </a:prstGeom>
          <a:solidFill>
            <a:srgbClr val="F0FDF4"/>
          </a:solidFill>
          <a:ln w="12700">
            <a:solidFill>
              <a:srgbClr val="BBF7D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18872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6A3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WIN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548640" y="1645920"/>
            <a:ext cx="246888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GPU fallback architecture designed in one prompt - saved 4+ hours of debugging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246120" y="1097280"/>
            <a:ext cx="2651760" cy="2560320"/>
          </a:xfrm>
          <a:prstGeom prst="rect">
            <a:avLst/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246120" y="118872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LEARN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3337560" y="1645920"/>
            <a:ext cx="246888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 context loading (algorithm, equations, constraints) dramatically improved output quality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035040" y="1097280"/>
            <a:ext cx="2651760" cy="2560320"/>
          </a:xfrm>
          <a:prstGeom prst="rect">
            <a:avLst/>
          </a:prstGeom>
          <a:solidFill>
            <a:srgbClr val="FEF2F2"/>
          </a:solidFill>
          <a:ln w="12700">
            <a:solidFill>
              <a:srgbClr val="FECAC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035040" y="118872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FAIL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126480" y="1645920"/>
            <a:ext cx="246888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claimed N=50 was achievable (requires 18 PB!). Unit tests + manual calculation caught the hallucination.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57200" y="38404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Impact</a:t>
            </a:r>
            <a:endParaRPr lang="en-US" sz="18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4297680"/>
          <a:ext cx="8229600" cy="731520"/>
        </p:xfrm>
        <a:graphic>
          <a:graphicData uri="http://schemas.openxmlformats.org/drawingml/2006/table">
            <a:tbl>
              <a:tblPr/>
              <a:tblGrid>
                <a:gridCol w="2057400"/>
                <a:gridCol w="2057400"/>
                <a:gridCol w="2057400"/>
                <a:gridCol w="2057400"/>
              </a:tblGrid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b="1" dirty="0">
                          <a:solidFill>
                            <a:srgbClr val="02809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~70%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b="1" dirty="0">
                          <a:solidFill>
                            <a:srgbClr val="00A89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~25%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b="1" dirty="0">
                          <a:solidFill>
                            <a:srgbClr val="02C39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~15-20 hrs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Code from AI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Required Fixes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Hallucinations Caught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Time Saved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E293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Team Retrospective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8229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Technical Takeaways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457200" y="1280160"/>
            <a:ext cx="822960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280160"/>
            <a:ext cx="73152" cy="82296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37160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Anna (Project Lead)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40080" y="169164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"Always verify AI claims about hardware limits with explicit calculations - 2^N scaling is unforgiving."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57200" y="2194560"/>
            <a:ext cx="822960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7200" y="2194560"/>
            <a:ext cx="73152" cy="822960"/>
          </a:xfrm>
          <a:prstGeom prst="rect">
            <a:avLst/>
          </a:prstGeom>
          <a:solidFill>
            <a:srgbClr val="00A896"/>
          </a:solidFill>
          <a:ln/>
        </p:spPr>
      </p:sp>
      <p:sp>
        <p:nvSpPr>
          <p:cNvPr id="10" name="Text 8"/>
          <p:cNvSpPr/>
          <p:nvPr/>
        </p:nvSpPr>
        <p:spPr>
          <a:xfrm>
            <a:off x="640080" y="228600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Van Binh (GPU PIC)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40080" y="260604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"Batch operations are key - evaluating all N neighbors in parallel gives 10-50x speedup over sequential."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57200" y="3108960"/>
            <a:ext cx="822960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57200" y="3108960"/>
            <a:ext cx="73152" cy="82296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14" name="Text 12"/>
          <p:cNvSpPr/>
          <p:nvPr/>
        </p:nvSpPr>
        <p:spPr>
          <a:xfrm>
            <a:off x="640080" y="320040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Jim &amp; Rudraksh (QA PICs)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40080" y="352044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"Hand calculations for small N are the best defense against AI hallucinations in energy functions."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57200" y="4023360"/>
            <a:ext cx="822960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57200" y="4023360"/>
            <a:ext cx="73152" cy="822960"/>
          </a:xfrm>
          <a:prstGeom prst="rect">
            <a:avLst/>
          </a:prstGeom>
          <a:solidFill>
            <a:srgbClr val="00A896"/>
          </a:solidFill>
          <a:ln/>
        </p:spPr>
      </p:sp>
      <p:sp>
        <p:nvSpPr>
          <p:cNvPr id="18" name="Text 16"/>
          <p:cNvSpPr/>
          <p:nvPr/>
        </p:nvSpPr>
        <p:spPr>
          <a:xfrm>
            <a:off x="640080" y="411480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Sadiya (Marketing PIC)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40080" y="443484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"Graceful degradation enables parallel workflows - team can develop on CPU while benchmarking on GPU."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E29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1371600"/>
            <a:ext cx="7772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Thank You!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731520" y="2377440"/>
            <a:ext cx="3657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2C3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Team Beerantum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731520" y="3108960"/>
            <a:ext cx="7315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Quantum-Enhanced LABS Optimization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NVIDIA CUDA-Q Academic Challenge 2026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731520" y="4114800"/>
            <a:ext cx="7315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github.com/beerantum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Questions?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Quantum-Enhanced LABS Optimization</dc:title>
  <dc:subject>PptxGenJS Presentation</dc:subject>
  <dc:creator>Team Beerantum</dc:creator>
  <cp:lastModifiedBy>Team Beerantum</cp:lastModifiedBy>
  <cp:revision>1</cp:revision>
  <dcterms:created xsi:type="dcterms:W3CDTF">2026-02-01T14:56:35Z</dcterms:created>
  <dcterms:modified xsi:type="dcterms:W3CDTF">2026-02-01T14:56:35Z</dcterms:modified>
</cp:coreProperties>
</file>